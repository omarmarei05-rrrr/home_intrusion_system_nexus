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17"/>
      <p:bold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5731D-60CB-47B5-A68B-A502A8741358}" v="1" dt="2026-06-03T07:05:09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10"/>
          </a:solidFill>
          <a:ln w="12700" cap="flat" cmpd="sng">
            <a:solidFill>
              <a:srgbClr val="0505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943600" y="-1097280"/>
            <a:ext cx="45720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A0A3E">
              <a:alpha val="70196"/>
            </a:srgbClr>
          </a:solidFill>
          <a:ln w="12700" cap="flat" cmpd="sng">
            <a:solidFill>
              <a:srgbClr val="1A0A3E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371600" y="22860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182A">
              <a:alpha val="70196"/>
            </a:srgbClr>
          </a:solidFill>
          <a:ln w="12700" cap="flat" cmpd="sng">
            <a:solidFill>
              <a:srgbClr val="00182A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54864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965960" y="50292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STM32-Based Smart Home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965960" y="111556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3400"/>
              <a:buFont typeface="Arial Black"/>
              <a:buNone/>
            </a:pPr>
            <a:r>
              <a:rPr lang="en-US" sz="3400" b="1" i="0" u="none" strike="noStrike" cap="none">
                <a:solidFill>
                  <a:srgbClr val="00BFFF"/>
                </a:solidFill>
                <a:latin typeface="Arial Black"/>
                <a:ea typeface="Arial Black"/>
                <a:cs typeface="Arial Black"/>
                <a:sym typeface="Arial Black"/>
              </a:rPr>
              <a:t>Security System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965960" y="180136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 low-cost, open-source embedded security platform built on STM32F411 + FreeRTOS + ESP32 + GSM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65960" y="2359152"/>
            <a:ext cx="6858000" cy="22860"/>
          </a:xfrm>
          <a:prstGeom prst="rect">
            <a:avLst/>
          </a:prstGeom>
          <a:solidFill>
            <a:srgbClr val="00BFFF">
              <a:alpha val="50196"/>
            </a:srgbClr>
          </a:solidFill>
          <a:ln w="12700" cap="flat" cmpd="sng">
            <a:solidFill>
              <a:srgbClr val="00BF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965960" y="2487168"/>
            <a:ext cx="1298448" cy="27432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965960" y="2496312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Calibri"/>
              <a:buNone/>
            </a:pPr>
            <a:r>
              <a:rPr lang="en-US" sz="850" b="0" i="0" u="none" strike="noStrike" cap="none" dirty="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STM32F411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364992" y="2487168"/>
            <a:ext cx="1298448" cy="27432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364992" y="2496312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FreeRTOS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764024" y="2487168"/>
            <a:ext cx="1298448" cy="27432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764024" y="2496312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SIM800L GSM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163056" y="2487168"/>
            <a:ext cx="1298448" cy="27432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163056" y="2496312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7562088" y="2487168"/>
            <a:ext cx="1298448" cy="27432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7562088" y="2496312"/>
            <a:ext cx="129844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FSM Architecture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965960" y="2971800"/>
            <a:ext cx="6858000" cy="1920240"/>
          </a:xfrm>
          <a:prstGeom prst="rect">
            <a:avLst/>
          </a:prstGeom>
          <a:solidFill>
            <a:srgbClr val="0A0A18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2148840" y="3090672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A855F7"/>
                </a:solidFill>
                <a:latin typeface="Arial"/>
                <a:ea typeface="Arial"/>
                <a:cs typeface="Arial"/>
                <a:sym typeface="Arial"/>
              </a:rPr>
              <a:t>Embedded Systems Engineering Project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2148840" y="3493008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Team Members:   </a:t>
            </a:r>
            <a:r>
              <a:rPr lang="en-US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Omar Marei , Omar Saleh , Omar Khaled , Reem Akram , Yousef Emad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2148840" y="3794760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Supervisor:          </a:t>
            </a:r>
            <a:r>
              <a:rPr lang="en-US" sz="11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US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Amr Fahmy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148840" y="4096512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Institution:           </a:t>
            </a:r>
            <a:r>
              <a:rPr lang="en-US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Arab Academy For science and technology – College of engineering –Computer department 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2148840" y="4480560"/>
            <a:ext cx="64922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lang="en-US" sz="1000" b="0" i="1" u="none" strike="noStrike" cap="none" dirty="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2025 – 2026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0A15"/>
          </a:solidFill>
          <a:ln w="12700" cap="flat" cmpd="sng">
            <a:solidFill>
              <a:srgbClr val="0A0A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Problem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Why traditional home security falls short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FFF">
              <a:alpha val="60000"/>
            </a:srgbClr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65760" y="1280160"/>
            <a:ext cx="2606040" cy="265176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65760" y="1280160"/>
            <a:ext cx="54864" cy="2651760"/>
          </a:xfrm>
          <a:prstGeom prst="rect">
            <a:avLst/>
          </a:prstGeom>
          <a:solidFill>
            <a:srgbClr val="00BFFF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" name="Google Shape;5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" y="1417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457200" y="19202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Expensive &amp; Proprietary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2267712"/>
            <a:ext cx="24231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Commercial systems cost thousands with vendor lock-in and recurring monthly fees.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200400" y="1280160"/>
            <a:ext cx="2606040" cy="265176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200400" y="1280160"/>
            <a:ext cx="54864" cy="2651760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0" y="1417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3291840" y="19202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Complex Installation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291840" y="2267712"/>
            <a:ext cx="24231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Professional installation required. Not DIY-friendly or easily reconfigured.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035040" y="1280160"/>
            <a:ext cx="2606040" cy="265176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035040" y="1280160"/>
            <a:ext cx="54864" cy="2651760"/>
          </a:xfrm>
          <a:prstGeom prst="rect">
            <a:avLst/>
          </a:prstGeom>
          <a:solidFill>
            <a:srgbClr val="22D3EE"/>
          </a:solidFill>
          <a:ln w="127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Google Shape;61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3640" y="1417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"/>
          <p:cNvSpPr/>
          <p:nvPr/>
        </p:nvSpPr>
        <p:spPr>
          <a:xfrm>
            <a:off x="6126480" y="192024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Limited Customization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126480" y="2267712"/>
            <a:ext cx="24231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Rigid feature sets. No ability to add sensors, change logic, or adapt to needs.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65760" y="4133088"/>
            <a:ext cx="8412480" cy="804672"/>
          </a:xfrm>
          <a:prstGeom prst="rect">
            <a:avLst/>
          </a:prstGeom>
          <a:solidFill>
            <a:srgbClr val="0E1A30"/>
          </a:solidFill>
          <a:ln w="12700" cap="flat" cmpd="sng">
            <a:solidFill>
              <a:srgbClr val="00BF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548640" y="4297680"/>
            <a:ext cx="80467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What the market needs →  Low-cost DIY solution  ·  Remote alerting  ·  Full local control  ·  Open &amp; customizable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0A15"/>
          </a:solidFill>
          <a:ln w="12700" cap="flat" cmpd="sng">
            <a:solidFill>
              <a:srgbClr val="0A0A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Our Solution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STM32-Based Modular Smart Home Security System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FFF">
              <a:alpha val="60000"/>
            </a:srgbClr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65760" y="1261872"/>
            <a:ext cx="8412480" cy="73152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65760" y="1261872"/>
            <a:ext cx="54864" cy="731520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8412480" y="1426464"/>
            <a:ext cx="365760" cy="365760"/>
          </a:xfrm>
          <a:prstGeom prst="rect">
            <a:avLst/>
          </a:prstGeom>
          <a:solidFill>
            <a:srgbClr val="A855F7">
              <a:alpha val="30196"/>
            </a:srgbClr>
          </a:solidFill>
          <a:ln w="12700" cap="flat" cmpd="sng">
            <a:solidFill>
              <a:srgbClr val="A855F7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8412480" y="1426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94360" y="1316736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UI / Remote Control Layer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94360" y="164592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LCD Display  ·  Keypad  ·  ESP32 (Wi-Fi / BT)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65760" y="2130552"/>
            <a:ext cx="8412480" cy="73152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365760" y="2130552"/>
            <a:ext cx="54864" cy="731520"/>
          </a:xfrm>
          <a:prstGeom prst="rect">
            <a:avLst/>
          </a:prstGeom>
          <a:solidFill>
            <a:srgbClr val="00BFFF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8412480" y="2295144"/>
            <a:ext cx="365760" cy="365760"/>
          </a:xfrm>
          <a:prstGeom prst="rect">
            <a:avLst/>
          </a:prstGeom>
          <a:solidFill>
            <a:srgbClr val="00BFFF">
              <a:alpha val="30196"/>
            </a:srgbClr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412480" y="22951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94360" y="2185416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Communication Layer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94360" y="251460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GSM SIM800L  ·  UART  ·  ESP32 UART Bridge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65760" y="2999232"/>
            <a:ext cx="8412480" cy="73152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22D3EE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365760" y="2999232"/>
            <a:ext cx="54864" cy="731520"/>
          </a:xfrm>
          <a:prstGeom prst="rect">
            <a:avLst/>
          </a:prstGeom>
          <a:solidFill>
            <a:srgbClr val="22D3EE"/>
          </a:solidFill>
          <a:ln w="127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8412480" y="3163824"/>
            <a:ext cx="365760" cy="365760"/>
          </a:xfrm>
          <a:prstGeom prst="rect">
            <a:avLst/>
          </a:prstGeom>
          <a:solidFill>
            <a:srgbClr val="22D3EE">
              <a:alpha val="30196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8412480" y="31638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94360" y="3054096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Processing &amp; Logic Layer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94360" y="338328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STM32F411 Black Pill  ·  FreeRTOS  ·  FSM Core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65760" y="3867912"/>
            <a:ext cx="8412480" cy="73152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10B981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365760" y="3867912"/>
            <a:ext cx="54864" cy="73152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412480" y="4032504"/>
            <a:ext cx="365760" cy="365760"/>
          </a:xfrm>
          <a:prstGeom prst="rect">
            <a:avLst/>
          </a:prstGeom>
          <a:solidFill>
            <a:srgbClr val="10B981">
              <a:alpha val="30196"/>
            </a:srgbClr>
          </a:solidFill>
          <a:ln w="12700" cap="flat" cmpd="sng">
            <a:solidFill>
              <a:srgbClr val="10B981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8412480" y="40325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 Black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94360" y="3922776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Sensing &amp; Actuation Layer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94360" y="425196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Calibri"/>
              <a:buNone/>
            </a:pPr>
            <a:r>
              <a:rPr lang="en-US" sz="1050" b="0" i="0" u="none" strike="noStrike" cap="none" dirty="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PIR Sensor  ·  Magnetic Switch  ·  Buzzer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 fully open, modular embedded security platform — no cloud dependency, no proprietary hardware.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0A15"/>
          </a:solidFill>
          <a:ln w="12700" cap="flat" cmpd="sng">
            <a:solidFill>
              <a:srgbClr val="0A0A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Team Structure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Roles &amp; responsibilities across the project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FFF">
              <a:alpha val="60000"/>
            </a:srgbClr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65760" y="1280160"/>
            <a:ext cx="4023360" cy="160020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365760" y="1280160"/>
            <a:ext cx="54864" cy="1600200"/>
          </a:xfrm>
          <a:prstGeom prst="rect">
            <a:avLst/>
          </a:prstGeom>
          <a:solidFill>
            <a:srgbClr val="00BFFF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52" y="14447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1051560" y="137160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Embedded Development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57200" y="1901952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STM32 firmware, FreeRTOS tasks, FSM logic, sensor drivers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663440" y="1280160"/>
            <a:ext cx="4023360" cy="160020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663440" y="1280160"/>
            <a:ext cx="54864" cy="1600200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8032" y="14447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5349240" y="137160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Hardware Integration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754880" y="1901952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Circuit design, wiring, relay, buzzer, PIR, magnetic switch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65760" y="3108960"/>
            <a:ext cx="4023360" cy="160020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365760" y="3108960"/>
            <a:ext cx="54864" cy="1600200"/>
          </a:xfrm>
          <a:prstGeom prst="rect">
            <a:avLst/>
          </a:prstGeom>
          <a:solidFill>
            <a:srgbClr val="22D3EE"/>
          </a:solidFill>
          <a:ln w="127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352" y="32735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1051560" y="320040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GSM Communication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3730752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SIM800L integration, AT commands, SMS alert pipeline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663440" y="3108960"/>
            <a:ext cx="4023360" cy="160020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663440" y="3108960"/>
            <a:ext cx="54864" cy="160020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28032" y="32735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5349240" y="320040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UI/UX &amp; ESP32 Module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754880" y="3730752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LCD interface, keypad input, ESP32 Wi-Fi/BT remote control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Every team member responsible for end-to-end delivery of their module.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0A15"/>
          </a:solidFill>
          <a:ln w="12700" cap="flat" cmpd="sng">
            <a:solidFill>
              <a:srgbClr val="0A0A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Development Timeline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Six-phase iterative development roadmap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FFF">
              <a:alpha val="60000"/>
            </a:srgbClr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85800" y="2514600"/>
            <a:ext cx="7772400" cy="36576"/>
          </a:xfrm>
          <a:prstGeom prst="rect">
            <a:avLst/>
          </a:prstGeom>
          <a:solidFill>
            <a:srgbClr val="00BFFF">
              <a:alpha val="4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57200" y="1234440"/>
            <a:ext cx="1261872" cy="25786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57200" y="1234440"/>
            <a:ext cx="1261872" cy="73152"/>
          </a:xfrm>
          <a:prstGeom prst="rect">
            <a:avLst/>
          </a:prstGeom>
          <a:solidFill>
            <a:srgbClr val="00BFFF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57200" y="1371600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2200"/>
              <a:buFont typeface="Arial Black"/>
              <a:buNone/>
            </a:pPr>
            <a:r>
              <a:rPr lang="en-US" sz="2200" b="1" i="0" u="none" strike="noStrike" cap="none">
                <a:solidFill>
                  <a:srgbClr val="00B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905256" y="24414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FFF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02920" y="182880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 Testing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02920" y="2404872"/>
            <a:ext cx="1170432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lang="en-US" sz="850" b="0" i="0" u="none" strike="noStrike" cap="none" dirty="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Validate sensors, GSM, LCD individually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856232" y="1234440"/>
            <a:ext cx="1261872" cy="25786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856232" y="1234440"/>
            <a:ext cx="1261872" cy="73152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856232" y="1371600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2200"/>
              <a:buFont typeface="Arial Black"/>
              <a:buNone/>
            </a:pPr>
            <a:r>
              <a:rPr lang="en-US" sz="2200" b="1" i="0" u="none" strike="noStrike" cap="none">
                <a:solidFill>
                  <a:srgbClr val="A855F7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304288" y="24414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1901952" y="182880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FSM Implementation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901952" y="2404872"/>
            <a:ext cx="1170432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Core state machine: IDLE, ARMED, ALERT, DISARMED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255264" y="1234440"/>
            <a:ext cx="1261872" cy="25786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255264" y="1234440"/>
            <a:ext cx="1261872" cy="73152"/>
          </a:xfrm>
          <a:prstGeom prst="rect">
            <a:avLst/>
          </a:prstGeom>
          <a:solidFill>
            <a:srgbClr val="22D3EE"/>
          </a:solidFill>
          <a:ln w="127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3255264" y="1371600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 Black"/>
              <a:buNone/>
            </a:pPr>
            <a:r>
              <a:rPr lang="en-US" sz="2200" b="1" i="0" u="none" strike="noStrike" cap="none">
                <a:solidFill>
                  <a:srgbClr val="22D3EE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703320" y="24414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D3EE"/>
          </a:solidFill>
          <a:ln w="127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3300984" y="182880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GSM Integration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300984" y="2404872"/>
            <a:ext cx="1170432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SIM800L AT commands, SMS alert dispatch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654296" y="1234440"/>
            <a:ext cx="1261872" cy="25786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10B981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654296" y="1234440"/>
            <a:ext cx="1261872" cy="73152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654296" y="1371600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200"/>
              <a:buFont typeface="Arial Black"/>
              <a:buNone/>
            </a:pPr>
            <a:r>
              <a:rPr lang="en-US" sz="2200" b="1" i="0" u="none" strike="noStrike" cap="none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102352" y="24414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700016" y="182880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UI Development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700016" y="2404872"/>
            <a:ext cx="1170432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LCD display, keypad PIN entry, user feedback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053328" y="1234440"/>
            <a:ext cx="1261872" cy="25786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F59E0B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6053328" y="1234440"/>
            <a:ext cx="1261872" cy="73152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6053328" y="1371600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Arial Black"/>
              <a:buNone/>
            </a:pPr>
            <a:r>
              <a:rPr lang="en-US" sz="2200" b="1" i="0" u="none" strike="noStrike" cap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501384" y="24414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6099048" y="182880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FreeRTOS Migration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099048" y="2404872"/>
            <a:ext cx="1170432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Multi-task architecture, semaphores, queues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7452360" y="1234440"/>
            <a:ext cx="1261872" cy="25786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7452360" y="1234440"/>
            <a:ext cx="1261872" cy="73152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7452360" y="1371600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2200"/>
              <a:buFont typeface="Arial Black"/>
              <a:buNone/>
            </a:pPr>
            <a:r>
              <a:rPr lang="en-US" sz="2200" b="1" i="0" u="none" strike="noStrike" cap="none">
                <a:solidFill>
                  <a:srgbClr val="A855F7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7900416" y="244144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7498080" y="1828800"/>
            <a:ext cx="1170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ESP32 Integration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7498080" y="2404872"/>
            <a:ext cx="1170432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Wi-Fi / Bluetooth remote arm/disarm module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0A15"/>
          </a:solidFill>
          <a:ln w="12700" cap="flat" cmpd="sng">
            <a:solidFill>
              <a:srgbClr val="0A0A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Key Features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Full-spectrum embedded security capabilities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FFF">
              <a:alpha val="60000"/>
            </a:srgbClr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320040" y="1261872"/>
            <a:ext cx="2011680" cy="16642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320040" y="1261872"/>
            <a:ext cx="54864" cy="1664208"/>
          </a:xfrm>
          <a:prstGeom prst="rect">
            <a:avLst/>
          </a:prstGeom>
          <a:solidFill>
            <a:srgbClr val="00BFFF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990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393192" y="1828800"/>
            <a:ext cx="18653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Motion Detection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393192" y="21762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PIR sensor detects intrusion in real-time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468880" y="1261872"/>
            <a:ext cx="2011680" cy="16642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2468880" y="1261872"/>
            <a:ext cx="54864" cy="1664208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6040" y="13990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2542032" y="1828800"/>
            <a:ext cx="18653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Door Sensing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542032" y="21762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Magnetic switch on entry points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617720" y="1261872"/>
            <a:ext cx="2011680" cy="16642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617720" y="1261872"/>
            <a:ext cx="54864" cy="1664208"/>
          </a:xfrm>
          <a:prstGeom prst="rect">
            <a:avLst/>
          </a:prstGeom>
          <a:solidFill>
            <a:srgbClr val="22D3EE"/>
          </a:solidFill>
          <a:ln w="127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7" name="Google Shape;197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4880" y="13990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8"/>
          <p:cNvSpPr/>
          <p:nvPr/>
        </p:nvSpPr>
        <p:spPr>
          <a:xfrm>
            <a:off x="4690872" y="1828800"/>
            <a:ext cx="18653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SMS Alerts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690872" y="21762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Instant GSM notifications via SIM800L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766560" y="1261872"/>
            <a:ext cx="2011680" cy="16642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6766560" y="1261872"/>
            <a:ext cx="54864" cy="1664208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03720" y="13990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/>
          <p:nvPr/>
        </p:nvSpPr>
        <p:spPr>
          <a:xfrm>
            <a:off x="6839712" y="1828800"/>
            <a:ext cx="18653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PIN Keypad Control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839712" y="21762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Secure arm/disarm via numeric keypad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20040" y="3090672"/>
            <a:ext cx="2011680" cy="16642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320040" y="3090672"/>
            <a:ext cx="54864" cy="1664208"/>
          </a:xfrm>
          <a:prstGeom prst="rect">
            <a:avLst/>
          </a:prstGeom>
          <a:solidFill>
            <a:srgbClr val="00BFFF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32278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393192" y="3657600"/>
            <a:ext cx="18653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LCD Interface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93192" y="40050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Real-time status and feedback display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468880" y="3090672"/>
            <a:ext cx="2011680" cy="16642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2468880" y="3090672"/>
            <a:ext cx="54864" cy="1664208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2" name="Google Shape;212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06040" y="32278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/>
          <p:nvPr/>
        </p:nvSpPr>
        <p:spPr>
          <a:xfrm>
            <a:off x="2542032" y="3657600"/>
            <a:ext cx="18653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Entry Delay System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2542032" y="40050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Configurable delay before alert fires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617720" y="3090672"/>
            <a:ext cx="2011680" cy="16642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617720" y="3090672"/>
            <a:ext cx="54864" cy="1664208"/>
          </a:xfrm>
          <a:prstGeom prst="rect">
            <a:avLst/>
          </a:prstGeom>
          <a:solidFill>
            <a:srgbClr val="22D3EE"/>
          </a:solidFill>
          <a:ln w="127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54880" y="32278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/>
          <p:nvPr/>
        </p:nvSpPr>
        <p:spPr>
          <a:xfrm>
            <a:off x="4690872" y="3657600"/>
            <a:ext cx="18653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Buzzer &amp; LED Alerts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690872" y="40050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Local audible and visual alarm output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766560" y="3090672"/>
            <a:ext cx="2011680" cy="1664208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766560" y="3090672"/>
            <a:ext cx="54864" cy="1664208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03720" y="32278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/>
          <p:nvPr/>
        </p:nvSpPr>
        <p:spPr>
          <a:xfrm>
            <a:off x="6839712" y="3657600"/>
            <a:ext cx="18653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Wi-Fi / BT Remote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839712" y="4005072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ESP32 enables wireless arm/disarm control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0A15"/>
          </a:solidFill>
          <a:ln w="12700" cap="flat" cmpd="sng">
            <a:solidFill>
              <a:srgbClr val="0A0A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 Specifications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Hardware components &amp; software stack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FFF">
              <a:alpha val="60000"/>
            </a:srgbClr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320040" y="1207008"/>
            <a:ext cx="4114800" cy="374904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320040" y="1207008"/>
            <a:ext cx="54864" cy="3749040"/>
          </a:xfrm>
          <a:prstGeom prst="rect">
            <a:avLst/>
          </a:prstGeom>
          <a:solidFill>
            <a:srgbClr val="00BFFF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02920" y="12801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1300"/>
              <a:buFont typeface="Arial Black"/>
              <a:buNone/>
            </a:pPr>
            <a:r>
              <a:rPr lang="en-US" sz="1300" b="1" i="0" u="none" strike="noStrike" cap="none">
                <a:solidFill>
                  <a:srgbClr val="00BFFF"/>
                </a:solidFill>
                <a:latin typeface="Arial Black"/>
                <a:ea typeface="Arial Black"/>
                <a:cs typeface="Arial Black"/>
                <a:sym typeface="Arial Black"/>
              </a:rPr>
              <a:t>HARDWARE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02920" y="1719072"/>
            <a:ext cx="374904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STM32F411 Black Pill (MCU)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PIR Sensor – HC-SR501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Magnetic Door Switch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SIM800L GSM Module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ESP32 Wi-Fi / Bluetooth Module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16×2 LCD Display (I2C)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4×4 Matrix Keypad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Active Buzzer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754880" y="1207008"/>
            <a:ext cx="4114800" cy="374904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4754880" y="1207008"/>
            <a:ext cx="54864" cy="3749040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4937760" y="12801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Arial Black"/>
              <a:buNone/>
            </a:pPr>
            <a:r>
              <a:rPr lang="en-US" sz="1300" b="1" i="0" u="none" strike="noStrike" cap="none">
                <a:solidFill>
                  <a:srgbClr val="A855F7"/>
                </a:solidFill>
                <a:latin typeface="Arial Black"/>
                <a:ea typeface="Arial Black"/>
                <a:cs typeface="Arial Black"/>
                <a:sym typeface="Arial Black"/>
              </a:rPr>
              <a:t>SOFTWARE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937760" y="1719072"/>
            <a:ext cx="374904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Arduino IDE + STM32duino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FreeRTOS (real-time multitasking)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hd44780 LCD Library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UART Serial Communication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FSM Architecture (state machine)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AT Command Protocol (GSM)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ESP32 Arduino Framework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0A15"/>
          </a:solidFill>
          <a:ln w="12700" cap="flat" cmpd="sng">
            <a:solidFill>
              <a:srgbClr val="0A0A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Results &amp; Achievements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Validation outcomes from system testing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FFF">
              <a:alpha val="60000"/>
            </a:srgbClr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320040" y="1261872"/>
            <a:ext cx="1572768" cy="356616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320040" y="1261872"/>
            <a:ext cx="54864" cy="3566160"/>
          </a:xfrm>
          <a:prstGeom prst="rect">
            <a:avLst/>
          </a:prstGeom>
          <a:solidFill>
            <a:srgbClr val="00BFFF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5608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0"/>
          <p:cNvSpPr/>
          <p:nvPr/>
        </p:nvSpPr>
        <p:spPr>
          <a:xfrm>
            <a:off x="393192" y="1901952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 Detection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93192" y="2450592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rgbClr val="00BFFF"/>
                </a:solidFill>
                <a:latin typeface="Arial Black"/>
                <a:ea typeface="Arial Black"/>
                <a:cs typeface="Arial Black"/>
                <a:sym typeface="Arial Black"/>
              </a:rPr>
              <a:t>&lt; 1s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93192" y="3017520"/>
            <a:ext cx="14264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Intrusion response latency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2039112" y="1261872"/>
            <a:ext cx="1572768" cy="356616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2039112" y="1261872"/>
            <a:ext cx="54864" cy="3566160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0" name="Google Shape;260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76272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4680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0"/>
          <p:cNvSpPr/>
          <p:nvPr/>
        </p:nvSpPr>
        <p:spPr>
          <a:xfrm>
            <a:off x="2112264" y="1901952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SMS Alert Reliability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2112264" y="2450592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rgbClr val="A855F7"/>
                </a:solidFill>
                <a:latin typeface="Arial Black"/>
                <a:ea typeface="Arial Black"/>
                <a:cs typeface="Arial Black"/>
                <a:sym typeface="Arial Black"/>
              </a:rPr>
              <a:t>100%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112264" y="3017520"/>
            <a:ext cx="14264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Delivery success in testing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758184" y="1261872"/>
            <a:ext cx="1572768" cy="356616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3758184" y="1261872"/>
            <a:ext cx="54864" cy="3566160"/>
          </a:xfrm>
          <a:prstGeom prst="rect">
            <a:avLst/>
          </a:prstGeom>
          <a:solidFill>
            <a:srgbClr val="22D3EE"/>
          </a:solidFill>
          <a:ln w="127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7" name="Google Shape;267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5344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73752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0"/>
          <p:cNvSpPr/>
          <p:nvPr/>
        </p:nvSpPr>
        <p:spPr>
          <a:xfrm>
            <a:off x="3831336" y="1901952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FSM Stability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3831336" y="2450592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rgbClr val="22D3EE"/>
                </a:solidFill>
                <a:latin typeface="Arial Black"/>
                <a:ea typeface="Arial Black"/>
                <a:cs typeface="Arial Black"/>
                <a:sym typeface="Arial Black"/>
              </a:rPr>
              <a:t>Stable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831336" y="3017520"/>
            <a:ext cx="14264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All state transitions verified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5477256" y="1261872"/>
            <a:ext cx="1572768" cy="356616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5477256" y="1261872"/>
            <a:ext cx="54864" cy="3566160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4" name="Google Shape;274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4416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92824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/>
          <p:nvPr/>
        </p:nvSpPr>
        <p:spPr>
          <a:xfrm>
            <a:off x="5550408" y="1901952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FreeRTOS Multitasking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550408" y="2450592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rgbClr val="10B981"/>
                </a:solidFill>
                <a:latin typeface="Arial Black"/>
                <a:ea typeface="Arial Black"/>
                <a:cs typeface="Arial Black"/>
                <a:sym typeface="Arial Black"/>
              </a:rPr>
              <a:t>5 Tasks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550408" y="3017520"/>
            <a:ext cx="14264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Concurrent tasks operational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7196328" y="1261872"/>
            <a:ext cx="1572768" cy="356616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7196328" y="1261872"/>
            <a:ext cx="54864" cy="356616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1" name="Google Shape;281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33488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11896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/>
          <p:nvPr/>
        </p:nvSpPr>
        <p:spPr>
          <a:xfrm>
            <a:off x="7269480" y="1901952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ESP32 Remote Control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7269480" y="2450592"/>
            <a:ext cx="142646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Arial Black"/>
              <a:buNone/>
            </a:pPr>
            <a:r>
              <a:rPr lang="en-US" sz="2000" b="1" i="0" u="none" strike="noStrike" cap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✓ Live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7269480" y="3017520"/>
            <a:ext cx="14264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Wireless arm/disarm functional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All core system features validated through end-to-end integration testing.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0A15"/>
          </a:solidFill>
          <a:ln w="12700" cap="flat" cmpd="sng">
            <a:solidFill>
              <a:srgbClr val="0A0A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Project Repository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Source code, drivers, and documentation — all open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FFF">
              <a:alpha val="60000"/>
            </a:srgbClr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320040" y="1234440"/>
            <a:ext cx="8503920" cy="685800"/>
          </a:xfrm>
          <a:prstGeom prst="rect">
            <a:avLst/>
          </a:prstGeom>
          <a:solidFill>
            <a:srgbClr val="161B22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" name="Google Shape;297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3441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1"/>
          <p:cNvSpPr/>
          <p:nvPr/>
        </p:nvSpPr>
        <p:spPr>
          <a:xfrm>
            <a:off x="960120" y="1389888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github.com / your-username / STM32-Smart-Home-Security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960120" y="1664208"/>
            <a:ext cx="6858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⭐  Star the repo  ·  Fork to contribute  ·  Open issues for feedback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320040" y="2084832"/>
            <a:ext cx="8503920" cy="2697480"/>
          </a:xfrm>
          <a:prstGeom prst="rect">
            <a:avLst/>
          </a:prstGeom>
          <a:solidFill>
            <a:srgbClr val="0D1117"/>
          </a:solidFill>
          <a:ln w="12700" cap="flat" cmpd="sng">
            <a:solidFill>
              <a:srgbClr val="3036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02920" y="217627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5F57"/>
          </a:solidFill>
          <a:ln w="12700" cap="flat" cmpd="sng">
            <a:solidFill>
              <a:srgbClr val="FF5F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758952" y="217627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EBC2E"/>
          </a:solidFill>
          <a:ln w="12700" cap="flat" cmpd="sng">
            <a:solidFill>
              <a:srgbClr val="FEB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1014984" y="2176272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8C840"/>
          </a:solidFill>
          <a:ln w="12700" cap="flat" cmpd="sng">
            <a:solidFill>
              <a:srgbClr val="28C8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1234440" y="2139696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~/STM32-Smart-Home-Security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02920" y="2450592"/>
            <a:ext cx="82296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STM32-Smart-Home-Security/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├── /Core          # STM32 main application, FSM logic, task handlers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├── /Drivers       # Peripheral drivers: PIR, LCD, keypad, buzzer, relay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├── /RTOS          # FreeRTOS configuration, task definitions, queues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├── /ESP32         # ESP32 firmware for Wi-Fi / Bluetooth remote module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onsolas"/>
              <a:buNone/>
            </a:pPr>
            <a:r>
              <a:rPr lang="en-US" sz="950" b="0" i="0" u="none" strike="noStrike" cap="none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└── /Docs          # Circuit diagrams, FSM diagram, AT command logs, wiring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0A15"/>
          </a:solidFill>
          <a:ln w="12700" cap="flat" cmpd="sng">
            <a:solidFill>
              <a:srgbClr val="0A0A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Documentation &amp; Resources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Everything needed to build, replicate, and extend the system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FFF">
              <a:alpha val="60000"/>
            </a:srgbClr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320040" y="1261872"/>
            <a:ext cx="2670048" cy="1627632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320040" y="1261872"/>
            <a:ext cx="54864" cy="1627632"/>
          </a:xfrm>
          <a:prstGeom prst="rect">
            <a:avLst/>
          </a:prstGeom>
          <a:solidFill>
            <a:srgbClr val="00BFFF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632" y="14081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2"/>
          <p:cNvSpPr/>
          <p:nvPr/>
        </p:nvSpPr>
        <p:spPr>
          <a:xfrm>
            <a:off x="960120" y="142646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Circuit Diagrams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11480" y="1901952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Full schematic: STM32 to all peripherals with pin mapping and power rails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3172968" y="1261872"/>
            <a:ext cx="2670048" cy="1627632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3172968" y="1261872"/>
            <a:ext cx="54864" cy="1627632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2" name="Google Shape;322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7560" y="14081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2"/>
          <p:cNvSpPr/>
          <p:nvPr/>
        </p:nvSpPr>
        <p:spPr>
          <a:xfrm>
            <a:off x="3813048" y="142646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FSM Diagram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3264408" y="1901952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State machine: IDLE → ARMED → INTRUSION → ALERT → DISARMED transitions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6025896" y="1261872"/>
            <a:ext cx="2670048" cy="1627632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6025896" y="1261872"/>
            <a:ext cx="54864" cy="1627632"/>
          </a:xfrm>
          <a:prstGeom prst="rect">
            <a:avLst/>
          </a:prstGeom>
          <a:solidFill>
            <a:srgbClr val="22D3EE"/>
          </a:solidFill>
          <a:ln w="12700" cap="flat" cmpd="sng">
            <a:solidFill>
              <a:srgbClr val="22D3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7" name="Google Shape;327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0488" y="14081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2"/>
          <p:cNvSpPr/>
          <p:nvPr/>
        </p:nvSpPr>
        <p:spPr>
          <a:xfrm>
            <a:off x="6665976" y="142646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Wiring Guide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117336" y="1901952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Step-by-step connection diagram for each hardware module with notes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320040" y="3090672"/>
            <a:ext cx="2670048" cy="1627632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320040" y="3090672"/>
            <a:ext cx="54864" cy="1627632"/>
          </a:xfrm>
          <a:prstGeom prst="rect">
            <a:avLst/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2" name="Google Shape;332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4632" y="32369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2"/>
          <p:cNvSpPr/>
          <p:nvPr/>
        </p:nvSpPr>
        <p:spPr>
          <a:xfrm>
            <a:off x="960120" y="325526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Command Logs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411480" y="3730752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Captured GSM AT command sequences for SIM800L setup and SMS dispatch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3172968" y="3090672"/>
            <a:ext cx="2670048" cy="1627632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3172968" y="3090672"/>
            <a:ext cx="54864" cy="1627632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7" name="Google Shape;337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37560" y="32369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3813048" y="325526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Report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3264408" y="3730752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Full technical report: architecture, design decisions, test results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6025896" y="3090672"/>
            <a:ext cx="2670048" cy="1627632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6025896" y="3090672"/>
            <a:ext cx="54864" cy="1627632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2" name="Google Shape;342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0488" y="32369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2"/>
          <p:cNvSpPr/>
          <p:nvPr/>
        </p:nvSpPr>
        <p:spPr>
          <a:xfrm>
            <a:off x="6665976" y="325526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Setup Guide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6117336" y="3730752"/>
            <a:ext cx="24688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Getting started: flashing firmware, configuring ESP32, testing the system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365760" y="4892040"/>
            <a:ext cx="841248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All assets available in the /Docs folder of the project repository.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0A0A15"/>
          </a:solidFill>
          <a:ln w="12700" cap="flat" cmpd="sng">
            <a:solidFill>
              <a:srgbClr val="0A0A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 &amp; Future Scope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What was built — and where it can go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365760" y="1051560"/>
            <a:ext cx="8412480" cy="22860"/>
          </a:xfrm>
          <a:prstGeom prst="rect">
            <a:avLst/>
          </a:prstGeom>
          <a:solidFill>
            <a:srgbClr val="00BFFF">
              <a:alpha val="60000"/>
            </a:srgbClr>
          </a:solidFill>
          <a:ln w="12700" cap="flat" cmpd="sng">
            <a:solidFill>
              <a:srgbClr val="00BF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320040" y="1261872"/>
            <a:ext cx="3977640" cy="251460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320040" y="1261872"/>
            <a:ext cx="54864" cy="2514600"/>
          </a:xfrm>
          <a:prstGeom prst="rect">
            <a:avLst/>
          </a:prstGeom>
          <a:solidFill>
            <a:srgbClr val="00BFFF"/>
          </a:solidFill>
          <a:ln w="127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502920" y="1353312"/>
            <a:ext cx="3611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FFF"/>
              </a:buClr>
              <a:buSzPts val="1100"/>
              <a:buFont typeface="Arial Black"/>
              <a:buNone/>
            </a:pPr>
            <a:r>
              <a:rPr lang="en-US" sz="1100" b="1" i="0" u="none" strike="noStrike" cap="none">
                <a:solidFill>
                  <a:srgbClr val="00BFFF"/>
                </a:solidFill>
                <a:latin typeface="Arial Black"/>
                <a:ea typeface="Arial Black"/>
                <a:cs typeface="Arial Black"/>
                <a:sym typeface="Arial Black"/>
              </a:rPr>
              <a:t>WHAT WE BUILT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502920" y="1737360"/>
            <a:ext cx="36576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Low-cost, fully open DIY security system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Reliable FSM-driven embedded architecture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Real-time intrusion detection &amp; SMS alerting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Scalable multi-task </a:t>
            </a:r>
            <a:r>
              <a:rPr lang="en-US" sz="1050" b="0" i="0" u="none" strike="noStrike" cap="none" dirty="0" err="1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FreeRTOS</a:t>
            </a: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 firmware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Wireless remote control via ESP32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4572000" y="1261872"/>
            <a:ext cx="4251960" cy="2514600"/>
          </a:xfrm>
          <a:prstGeom prst="rect">
            <a:avLst/>
          </a:prstGeom>
          <a:solidFill>
            <a:srgbClr val="1A2235"/>
          </a:solidFill>
          <a:ln w="12700" cap="flat" cmpd="sng">
            <a:solidFill>
              <a:srgbClr val="A855F7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4572000" y="1261872"/>
            <a:ext cx="54864" cy="2514600"/>
          </a:xfrm>
          <a:prstGeom prst="rect">
            <a:avLst/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4754880" y="1353312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100"/>
              <a:buFont typeface="Arial Black"/>
              <a:buNone/>
            </a:pPr>
            <a:r>
              <a:rPr lang="en-US" sz="1100" b="1" i="0" u="none" strike="noStrike" cap="none">
                <a:solidFill>
                  <a:srgbClr val="A855F7"/>
                </a:solidFill>
                <a:latin typeface="Arial Black"/>
                <a:ea typeface="Arial Black"/>
                <a:cs typeface="Arial Black"/>
                <a:sym typeface="Arial Black"/>
              </a:rPr>
              <a:t>FUTURE WORK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4880" y="1828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/>
          <p:nvPr/>
        </p:nvSpPr>
        <p:spPr>
          <a:xfrm>
            <a:off x="5166360" y="183794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Mobile App Integration (iOS / Android)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4880" y="2487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"/>
          <p:cNvSpPr/>
          <p:nvPr/>
        </p:nvSpPr>
        <p:spPr>
          <a:xfrm>
            <a:off x="5166360" y="249631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Cloud Connectivity (MQTT / AWS IoT)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4880" y="31455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3"/>
          <p:cNvSpPr/>
          <p:nvPr/>
        </p:nvSpPr>
        <p:spPr>
          <a:xfrm>
            <a:off x="5166360" y="315468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AI-Based Intrusion Detection (Edge ML)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320040" y="4005072"/>
            <a:ext cx="8503920" cy="960120"/>
          </a:xfrm>
          <a:prstGeom prst="rect">
            <a:avLst/>
          </a:prstGeom>
          <a:solidFill>
            <a:srgbClr val="080D1A"/>
          </a:solidFill>
          <a:ln w="12700" cap="flat" cmpd="sng">
            <a:solidFill>
              <a:srgbClr val="00BF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457200" y="4078224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 Black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Thank You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457200" y="445312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Questions &amp; Discussion  ·  github.com/your-username/STM32-Smart-Home-Security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37B13679B2344EA0CAA07557735840" ma:contentTypeVersion="6" ma:contentTypeDescription="Create a new document." ma:contentTypeScope="" ma:versionID="77b8834a587e137b8bbf3bd9d19aa965">
  <xsd:schema xmlns:xsd="http://www.w3.org/2001/XMLSchema" xmlns:xs="http://www.w3.org/2001/XMLSchema" xmlns:p="http://schemas.microsoft.com/office/2006/metadata/properties" xmlns:ns3="880d3a3f-733c-45c8-82e1-e33087a086a2" targetNamespace="http://schemas.microsoft.com/office/2006/metadata/properties" ma:root="true" ma:fieldsID="65e3dbf009c7d855b157deadb0877104" ns3:_="">
    <xsd:import namespace="880d3a3f-733c-45c8-82e1-e33087a086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0d3a3f-733c-45c8-82e1-e33087a086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80d3a3f-733c-45c8-82e1-e33087a086a2" xsi:nil="true"/>
  </documentManagement>
</p:properties>
</file>

<file path=customXml/itemProps1.xml><?xml version="1.0" encoding="utf-8"?>
<ds:datastoreItem xmlns:ds="http://schemas.openxmlformats.org/officeDocument/2006/customXml" ds:itemID="{86C7CB52-E6B7-4720-97D0-EF83093CB1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0d3a3f-733c-45c8-82e1-e33087a086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85A51B5-1171-40B5-892A-1BF9688F4D8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363322-C978-4539-A315-1A20D8FAFEA7}">
  <ds:schemaRefs>
    <ds:schemaRef ds:uri="http://schemas.microsoft.com/office/2006/documentManagement/types"/>
    <ds:schemaRef ds:uri="880d3a3f-733c-45c8-82e1-e33087a086a2"/>
    <ds:schemaRef ds:uri="http://schemas.microsoft.com/office/2006/metadata/properties"/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879</Words>
  <Application>Microsoft Office PowerPoint</Application>
  <PresentationFormat>On-screen Show (16:9)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Consolas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omar mohamed marei 221006748</dc:creator>
  <cp:lastModifiedBy>Omar Marei</cp:lastModifiedBy>
  <cp:revision>3</cp:revision>
  <dcterms:modified xsi:type="dcterms:W3CDTF">2026-06-03T07:05:09Z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0x010100BD37B13679B2344EA0CAA07557735840</vt:lpwstr>
  </property>
</Properties>
</file>